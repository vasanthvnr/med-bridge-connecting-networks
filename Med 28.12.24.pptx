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C1804C"/>
  </p:clrMru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981" autoAdjust="0"/>
    <p:restoredTop sz="94660"/>
  </p:normalViewPr>
  <p:slideViewPr>
    <p:cSldViewPr snapToGrid="0">
      <p:cViewPr>
        <p:scale>
          <a:sx n="75" d="100"/>
          <a:sy n="75" d="100"/>
        </p:scale>
        <p:origin x="931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tableStyles" Target="tableStyle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9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1048691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69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9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Slide Image Placeholder 1"/>
          <p:cNvSpPr>
            <a:spLocks noChangeAspect="1" noRot="1" noGrp="1"/>
          </p:cNvSpPr>
          <p:nvPr>
            <p:ph type="sldImg" idx="2"/>
          </p:nvPr>
        </p:nvSpPr>
        <p:spPr/>
      </p:sp>
      <p:sp>
        <p:nvSpPr>
          <p:cNvPr id="1048592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Slide Image Placeholder 1"/>
          <p:cNvSpPr>
            <a:spLocks noChangeAspect="1" noRot="1" noGrp="1"/>
          </p:cNvSpPr>
          <p:nvPr>
            <p:ph type="sldImg" idx="2"/>
          </p:nvPr>
        </p:nvSpPr>
        <p:spPr/>
      </p:sp>
      <p:sp>
        <p:nvSpPr>
          <p:cNvPr id="1048606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Slide Image Placeholder 1"/>
          <p:cNvSpPr>
            <a:spLocks noChangeAspect="1" noRot="1" noGrp="1"/>
          </p:cNvSpPr>
          <p:nvPr>
            <p:ph type="sldImg" idx="2"/>
          </p:nvPr>
        </p:nvSpPr>
        <p:spPr/>
      </p:sp>
      <p:sp>
        <p:nvSpPr>
          <p:cNvPr id="1048610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104859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8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104867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29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0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104863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7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104867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4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104864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104868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4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5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104868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7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58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104866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6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104866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65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104865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 txBox="1"/>
          <p:nvPr/>
        </p:nvSpPr>
        <p:spPr>
          <a:xfrm>
            <a:off x="1268412" y="911040"/>
            <a:ext cx="10602013" cy="2088702"/>
          </a:xfrm>
          <a:prstGeom prst="rect"/>
        </p:spPr>
        <p:txBody>
          <a:bodyPr anchor="t" bIns="45720" lIns="91440" rIns="91440" rtlCol="0" tIns="45720" vert="horz">
            <a:normAutofit/>
          </a:bodyPr>
          <a:lstStyle>
            <a:lvl1pPr algn="ctr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b="1" dirty="0" sz="2400" lang="en-IN">
                <a:latin typeface="Adobe Garamond Pro Bold" pitchFamily="18" charset="0"/>
              </a:rPr>
              <a:t>  VEL TECH HIGH TECH </a:t>
            </a:r>
            <a:br>
              <a:rPr altLang="en-US" dirty="0" sz="2400" lang="en-IN">
                <a:latin typeface="Adobe Garamond Pro Bold" pitchFamily="18" charset="0"/>
              </a:rPr>
            </a:br>
            <a:r>
              <a:rPr altLang="en-US" b="1" dirty="0" sz="2400" lang="en-IN" err="1">
                <a:latin typeface="Adobe Garamond Pro Bold" pitchFamily="18" charset="0"/>
              </a:rPr>
              <a:t>Dr.</a:t>
            </a:r>
            <a:r>
              <a:rPr altLang="en-US" b="1" dirty="0" sz="2400" lang="en-IN">
                <a:latin typeface="Adobe Garamond Pro Bold" pitchFamily="18" charset="0"/>
              </a:rPr>
              <a:t> RANGARAJAN </a:t>
            </a:r>
            <a:r>
              <a:rPr altLang="en-US" b="1" dirty="0" sz="2400" lang="en-IN" err="1">
                <a:latin typeface="Adobe Garamond Pro Bold" pitchFamily="18" charset="0"/>
              </a:rPr>
              <a:t>Dr.</a:t>
            </a:r>
            <a:r>
              <a:rPr altLang="en-US" b="1" dirty="0" sz="2400" lang="en-IN">
                <a:latin typeface="Adobe Garamond Pro Bold" pitchFamily="18" charset="0"/>
              </a:rPr>
              <a:t> SAKUNTHALA ENGINEERING COLLEGE</a:t>
            </a:r>
            <a:br>
              <a:rPr altLang="en-US" dirty="0" sz="2400" lang="en-IN">
                <a:latin typeface="Adobe Garamond Pro Bold" pitchFamily="18" charset="0"/>
              </a:rPr>
            </a:br>
            <a:r>
              <a:rPr altLang="en-US" b="1" dirty="0" sz="2400" lang="en-IN">
                <a:latin typeface="Adobe Garamond Pro Bold" pitchFamily="18" charset="0"/>
              </a:rPr>
              <a:t>An Autonomous Institution</a:t>
            </a:r>
            <a:br>
              <a:rPr altLang="en-US" dirty="0" sz="2400" lang="en-IN">
                <a:latin typeface="Adobe Garamond Pro Bold" pitchFamily="18" charset="0"/>
              </a:rPr>
            </a:br>
            <a:endParaRPr altLang="en-US" dirty="0" sz="2400" lang="en-IN">
              <a:latin typeface="Adobe Garamond Pro Bold" pitchFamily="18" charset="0"/>
            </a:endParaRPr>
          </a:p>
        </p:txBody>
      </p:sp>
      <p:pic>
        <p:nvPicPr>
          <p:cNvPr id="2097152" name="Picture 2" descr="C:\Users\Priya\Desktop\logo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321575" y="925376"/>
            <a:ext cx="1268413" cy="1214438"/>
          </a:xfrm>
          <a:prstGeom prst="rect"/>
          <a:noFill/>
          <a:ln>
            <a:noFill/>
          </a:ln>
        </p:spPr>
      </p:pic>
      <p:sp>
        <p:nvSpPr>
          <p:cNvPr id="1048587" name="Subtitle 2"/>
          <p:cNvSpPr txBox="1"/>
          <p:nvPr/>
        </p:nvSpPr>
        <p:spPr bwMode="auto">
          <a:xfrm>
            <a:off x="1779588" y="2464595"/>
            <a:ext cx="9144000" cy="500062"/>
          </a:xfrm>
          <a:prstGeom prst="rect"/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indent="-285750" marL="7429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indent="-228600" marL="1143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indent="-228600" marL="1600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indent="-228600" marL="20574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altLang="en-US" dirty="0" sz="3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altLang="en-US"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- II</a:t>
            </a:r>
          </a:p>
        </p:txBody>
      </p:sp>
      <p:sp>
        <p:nvSpPr>
          <p:cNvPr id="1048588" name="Subtitle 2"/>
          <p:cNvSpPr txBox="1"/>
          <p:nvPr/>
        </p:nvSpPr>
        <p:spPr>
          <a:xfrm>
            <a:off x="651921" y="4783382"/>
            <a:ext cx="4429126" cy="1285875"/>
          </a:xfrm>
          <a:prstGeom prst="rect"/>
        </p:spPr>
        <p:txBody>
          <a:bodyPr>
            <a:noAutofit/>
          </a:bodyPr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</a:pPr>
            <a:r>
              <a:rPr dirty="0" sz="17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VASANTH.S (113022205112 )</a:t>
            </a: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</a:pPr>
            <a:r>
              <a:rPr dirty="0" sz="17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SANTHOSH.T (113022205090)</a:t>
            </a: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</a:pPr>
            <a:r>
              <a:rPr dirty="0" sz="17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SAKTHI NAGA SARVESH .A (113022205084)</a:t>
            </a: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</a:pPr>
            <a:r>
              <a:rPr dirty="0" sz="17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III Year, INFORMATION TECHNOLOGY</a:t>
            </a:r>
          </a:p>
        </p:txBody>
      </p:sp>
      <p:sp>
        <p:nvSpPr>
          <p:cNvPr id="1048589" name="Subtitle 2"/>
          <p:cNvSpPr txBox="1"/>
          <p:nvPr/>
        </p:nvSpPr>
        <p:spPr bwMode="auto">
          <a:xfrm>
            <a:off x="7843101" y="4716776"/>
            <a:ext cx="4500563" cy="1214438"/>
          </a:xfrm>
          <a:prstGeom prst="rect"/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indent="-285750" marL="7429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indent="-228600" marL="1143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indent="-228600" marL="1600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indent="-228600" marL="20574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altLang="en-US" dirty="0" sz="1700" lang="en-IN" u="sng">
                <a:latin typeface="Times New Roman" panose="02020603050405020304" pitchFamily="18" charset="0"/>
                <a:ea typeface="Adobe Fan Heiti Std B" pitchFamily="34" charset="-128"/>
                <a:cs typeface="Times New Roman" panose="02020603050405020304" pitchFamily="18" charset="0"/>
              </a:rPr>
              <a:t>Supervisor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altLang="en-US" dirty="0" sz="1700" lang="en-IN">
                <a:latin typeface="Times New Roman" panose="02020603050405020304" pitchFamily="18" charset="0"/>
                <a:ea typeface="Adobe Fan Heiti Std B" pitchFamily="34" charset="-128"/>
                <a:cs typeface="Times New Roman" panose="02020603050405020304" pitchFamily="18" charset="0"/>
              </a:rPr>
              <a:t>Mrs. T. SEETHA LAKSHMI M.E(CSE)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altLang="en-US" dirty="0" sz="1700" lang="en-IN">
                <a:latin typeface="Times New Roman" panose="02020603050405020304" pitchFamily="18" charset="0"/>
                <a:ea typeface="Adobe Fan Heiti Std B" pitchFamily="34" charset="-128"/>
                <a:cs typeface="Times New Roman" panose="02020603050405020304" pitchFamily="18" charset="0"/>
              </a:rPr>
              <a:t>ASSISTANT PROFESSOR</a:t>
            </a:r>
          </a:p>
        </p:txBody>
      </p:sp>
      <p:sp>
        <p:nvSpPr>
          <p:cNvPr id="1048590" name="Subtitle 2"/>
          <p:cNvSpPr txBox="1"/>
          <p:nvPr/>
        </p:nvSpPr>
        <p:spPr bwMode="auto">
          <a:xfrm>
            <a:off x="442598" y="3429000"/>
            <a:ext cx="11174014" cy="1089212"/>
          </a:xfrm>
          <a:prstGeom prst="rect"/>
          <a:noFill/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 indent="-285750" marL="7429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 indent="-228600" marL="11430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 indent="-228600" marL="1600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 indent="-228600" marL="20574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altLang="en-US" dirty="0" sz="3000" lang="en-US">
                <a:solidFill>
                  <a:srgbClr val="0070C0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MEDBRIDGE CONNECTING NETWORKS FOR CRITICAL INSIGHTS </a:t>
            </a:r>
            <a:endParaRPr altLang="en-US" dirty="0" sz="3000" lang="en-IN">
              <a:solidFill>
                <a:srgbClr val="0070C0"/>
              </a:solidFill>
              <a:effectLst>
                <a:outerShdw algn="tl" blurRad="38100" dir="2700000" dist="38100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>
          <a:xfrm>
            <a:off x="489857" y="238034"/>
            <a:ext cx="10515600" cy="739775"/>
          </a:xfrm>
        </p:spPr>
        <p:txBody>
          <a:bodyPr>
            <a:normAutofit/>
          </a:bodyPr>
          <a:p>
            <a:pPr algn="ctr"/>
            <a:r>
              <a:rPr dirty="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b="1" dirty="0" lang="en-US" u="sng">
                <a:latin typeface="Times New Roman" pitchFamily="18" charset="0"/>
                <a:cs typeface="Times New Roman" pitchFamily="18" charset="0"/>
              </a:rPr>
              <a:t>AGENDA</a:t>
            </a:r>
          </a:p>
        </p:txBody>
      </p:sp>
      <p:sp>
        <p:nvSpPr>
          <p:cNvPr id="1048599" name="Content Placeholder 2"/>
          <p:cNvSpPr>
            <a:spLocks noGrp="1"/>
          </p:cNvSpPr>
          <p:nvPr>
            <p:ph idx="1"/>
          </p:nvPr>
        </p:nvSpPr>
        <p:spPr>
          <a:xfrm>
            <a:off x="461645" y="996950"/>
            <a:ext cx="11314430" cy="5334000"/>
          </a:xfrm>
        </p:spPr>
        <p:txBody>
          <a:bodyPr>
            <a:normAutofit/>
          </a:bodyPr>
          <a:p>
            <a:endParaRPr dirty="0" sz="2400" lang="en-US"/>
          </a:p>
          <a:p>
            <a:endParaRPr dirty="0" sz="2920" lang="en-US">
              <a:latin typeface="Times New Roman" pitchFamily="18" charset="0"/>
              <a:cs typeface="Times New Roman" pitchFamily="18" charset="0"/>
            </a:endParaRPr>
          </a:p>
          <a:p>
            <a:endParaRPr dirty="0" sz="2920" lang="en-US"/>
          </a:p>
          <a:p>
            <a:pPr indent="0" marL="0">
              <a:buNone/>
            </a:pPr>
            <a:endParaRPr dirty="0" lang="en-US"/>
          </a:p>
          <a:p>
            <a:endParaRPr dirty="0" lang="en-US"/>
          </a:p>
        </p:txBody>
      </p:sp>
      <p:graphicFrame>
        <p:nvGraphicFramePr>
          <p:cNvPr id="4194304" name="Table 3"/>
          <p:cNvGraphicFramePr>
            <a:graphicFrameLocks noGrp="1"/>
          </p:cNvGraphicFramePr>
          <p:nvPr/>
        </p:nvGraphicFramePr>
        <p:xfrm>
          <a:off x="981788" y="1883746"/>
          <a:ext cx="11713028" cy="4151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6971"/>
                <a:gridCol w="5646057"/>
              </a:tblGrid>
              <a:tr h="4151086">
                <a:tc>
                  <a:txBody>
                    <a:bodyPr/>
                    <a:p>
                      <a:pPr indent="-514350" marL="514350">
                        <a:buFont typeface="+mj-lt"/>
                        <a:buAutoNum type="arabicPeriod"/>
                      </a:pPr>
                      <a:r>
                        <a:rPr b="0" dirty="0" sz="28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Abstract</a:t>
                      </a:r>
                    </a:p>
                    <a:p>
                      <a:pPr indent="-514350" marL="514350">
                        <a:buFont typeface="+mj-lt"/>
                        <a:buAutoNum type="arabicPeriod"/>
                      </a:pPr>
                      <a:r>
                        <a:rPr b="0" dirty="0" sz="28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Objective</a:t>
                      </a:r>
                    </a:p>
                    <a:p>
                      <a:pPr indent="-514350" marL="514350">
                        <a:buFont typeface="+mj-lt"/>
                        <a:buAutoNum type="arabicPeriod"/>
                      </a:pPr>
                      <a:r>
                        <a:rPr b="0" dirty="0" sz="28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Literature Survey</a:t>
                      </a:r>
                    </a:p>
                    <a:p>
                      <a:pPr indent="-514350" marL="514350">
                        <a:buFont typeface="+mj-lt"/>
                        <a:buAutoNum type="arabicPeriod"/>
                      </a:pPr>
                      <a:r>
                        <a:rPr b="0" dirty="0" sz="28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Existing System</a:t>
                      </a:r>
                    </a:p>
                    <a:p>
                      <a:pPr indent="-514350" marL="514350">
                        <a:buFont typeface="+mj-lt"/>
                        <a:buAutoNum type="arabicPeriod"/>
                      </a:pPr>
                      <a:r>
                        <a:rPr b="0" dirty="0" sz="28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Drawbacks of existing system</a:t>
                      </a:r>
                    </a:p>
                    <a:p>
                      <a:pPr indent="-514350" marL="514350">
                        <a:buFont typeface="+mj-lt"/>
                        <a:buAutoNum type="arabicPeriod"/>
                      </a:pPr>
                      <a:r>
                        <a:rPr b="0" dirty="0" sz="28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Proposed System</a:t>
                      </a:r>
                    </a:p>
                    <a:p>
                      <a:pPr indent="-514350" marL="514350">
                        <a:buFont typeface="+mj-lt"/>
                        <a:buAutoNum type="arabicPeriod"/>
                      </a:pPr>
                      <a:r>
                        <a:rPr b="0" dirty="0" sz="28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Block diagram</a:t>
                      </a:r>
                    </a:p>
                    <a:p>
                      <a:pPr indent="-514350" marL="514350">
                        <a:buFont typeface="+mj-lt"/>
                        <a:buAutoNum type="arabicPeriod"/>
                      </a:pPr>
                      <a:r>
                        <a:rPr b="0" dirty="0" sz="28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Advantages of proposed work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indent="-514350" marL="514350">
                        <a:buFont typeface="+mj-lt"/>
                        <a:buNone/>
                      </a:pPr>
                      <a:r>
                        <a:rPr b="0" dirty="0" sz="28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9.</a:t>
                      </a:r>
                      <a:r>
                        <a:rPr baseline="0" b="0" dirty="0" sz="28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b="0" dirty="0" sz="28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Software tool requirements</a:t>
                      </a:r>
                    </a:p>
                    <a:p>
                      <a:pPr indent="-514350" marL="514350">
                        <a:buFont typeface="+mj-lt"/>
                        <a:buNone/>
                      </a:pPr>
                      <a:r>
                        <a:rPr b="0" dirty="0" sz="28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10. Algorithm</a:t>
                      </a:r>
                    </a:p>
                    <a:p>
                      <a:pPr indent="-514350" marL="514350">
                        <a:buFont typeface="+mj-lt"/>
                        <a:buNone/>
                      </a:pPr>
                      <a:r>
                        <a:rPr b="0" dirty="0" sz="28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11. Model output</a:t>
                      </a:r>
                    </a:p>
                    <a:p>
                      <a:pPr indent="-514350" marL="514350">
                        <a:buFont typeface="+mj-lt"/>
                        <a:buNone/>
                      </a:pPr>
                      <a:r>
                        <a:rPr b="0" dirty="0" sz="28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12.</a:t>
                      </a:r>
                      <a:r>
                        <a:rPr baseline="0" b="0" dirty="0" sz="28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b="0" dirty="0" sz="28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Conclusion</a:t>
                      </a:r>
                    </a:p>
                    <a:p>
                      <a:pPr indent="-514350" marL="514350">
                        <a:buFont typeface="+mj-lt"/>
                        <a:buNone/>
                      </a:pPr>
                      <a:r>
                        <a:rPr b="0" dirty="0" sz="28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13. Future works </a:t>
                      </a:r>
                    </a:p>
                    <a:p>
                      <a:pPr indent="-514350" marL="514350">
                        <a:buFont typeface="+mj-lt"/>
                        <a:buNone/>
                      </a:pPr>
                      <a:r>
                        <a:rPr b="0" dirty="0" sz="28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14. References</a:t>
                      </a:r>
                      <a:endParaRPr b="0" dirty="0" sz="2800" lang="en-IN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781639" y="226114"/>
            <a:ext cx="10515600" cy="812800"/>
          </a:xfrm>
        </p:spPr>
        <p:txBody>
          <a:bodyPr>
            <a:normAutofit/>
          </a:bodyPr>
          <a:p>
            <a:pPr algn="ctr"/>
            <a:r>
              <a:rPr b="1" dirty="0" lang="en-US" u="sng">
                <a:latin typeface="Times New Roman" pitchFamily="18" charset="0"/>
                <a:cs typeface="Times New Roman" pitchFamily="18" charset="0"/>
              </a:rPr>
              <a:t>ABSTRACT</a:t>
            </a: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146639" y="1038914"/>
            <a:ext cx="11785600" cy="5810519"/>
          </a:xfrm>
        </p:spPr>
        <p:txBody>
          <a:bodyPr>
            <a:noAutofit/>
          </a:bodyPr>
          <a:p>
            <a:pPr algn="just" indent="-363538" marL="363538">
              <a:lnSpc>
                <a:spcPct val="150000"/>
              </a:lnSpc>
            </a:pPr>
            <a:r>
              <a:rPr altLang="en-IN" dirty="0" sz="2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altLang="en-IN" dirty="0" sz="2400" lang="en-US" err="1">
                <a:latin typeface="Times New Roman" pitchFamily="18" charset="0"/>
                <a:cs typeface="Times New Roman" pitchFamily="18" charset="0"/>
              </a:rPr>
              <a:t>MedBridge</a:t>
            </a:r>
            <a:r>
              <a:rPr altLang="en-IN" dirty="0" sz="2400" lang="en-US">
                <a:latin typeface="Times New Roman" pitchFamily="18" charset="0"/>
                <a:cs typeface="Times New Roman" pitchFamily="18" charset="0"/>
              </a:rPr>
              <a:t> is an innovative platform designed to facilitate real-time communication between hospitals and clinics, acting as an intermediary for the exchange of critical medicinal resources. </a:t>
            </a:r>
          </a:p>
          <a:p>
            <a:pPr algn="just" indent="-363538" marL="363538">
              <a:lnSpc>
                <a:spcPct val="150000"/>
              </a:lnSpc>
            </a:pPr>
            <a:r>
              <a:rPr altLang="en-IN" dirty="0" sz="2400" lang="en-US">
                <a:latin typeface="Times New Roman" pitchFamily="18" charset="0"/>
                <a:cs typeface="Times New Roman" pitchFamily="18" charset="0"/>
              </a:rPr>
              <a:t>It collects and provides authorized data on the availability of essential resources such as blood, organ and bone. By streamlining the sharing of information, </a:t>
            </a:r>
            <a:r>
              <a:rPr altLang="en-IN" dirty="0" sz="2400" lang="en-US" err="1">
                <a:latin typeface="Times New Roman" pitchFamily="18" charset="0"/>
                <a:cs typeface="Times New Roman" pitchFamily="18" charset="0"/>
              </a:rPr>
              <a:t>MedBridge</a:t>
            </a:r>
            <a:r>
              <a:rPr altLang="en-IN" dirty="0" sz="2400" lang="en-US">
                <a:latin typeface="Times New Roman" pitchFamily="18" charset="0"/>
                <a:cs typeface="Times New Roman" pitchFamily="18" charset="0"/>
              </a:rPr>
              <a:t> enables healthcare institutions to respond more effectively to urgent medical needs, optimize resource usage, and ensure that life-saving materials are accessible when and where they are most needed.</a:t>
            </a:r>
          </a:p>
          <a:p>
            <a:pPr algn="just" indent="-363538" marL="363538">
              <a:lnSpc>
                <a:spcPct val="150000"/>
              </a:lnSpc>
            </a:pPr>
            <a:r>
              <a:rPr altLang="en-IN" dirty="0" sz="2400" lang="en-US">
                <a:latin typeface="Times New Roman" pitchFamily="18" charset="0"/>
                <a:cs typeface="Times New Roman" pitchFamily="18" charset="0"/>
              </a:rPr>
              <a:t> The platform fosters a collaborative network of hospitals and clinics, improving healthcare outcomes through efficient resource management and transparent communication.</a:t>
            </a:r>
            <a:endParaRPr dirty="0" sz="2400" 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>
          <a:xfrm>
            <a:off x="772886" y="845055"/>
            <a:ext cx="10515600" cy="934085"/>
          </a:xfrm>
        </p:spPr>
        <p:txBody>
          <a:bodyPr/>
          <a:p>
            <a:pPr algn="ctr"/>
            <a:r>
              <a:rPr b="1" dirty="0" lang="en-US" u="sng">
                <a:latin typeface="Times New Roman" pitchFamily="18" charset="0"/>
                <a:cs typeface="Times New Roman" pitchFamily="18" charset="0"/>
              </a:rPr>
              <a:t>OBJECTIVE</a:t>
            </a:r>
          </a:p>
        </p:txBody>
      </p:sp>
      <p:sp>
        <p:nvSpPr>
          <p:cNvPr id="1048603" name="Content Placeholder 2"/>
          <p:cNvSpPr>
            <a:spLocks noGrp="1"/>
          </p:cNvSpPr>
          <p:nvPr>
            <p:ph idx="1"/>
          </p:nvPr>
        </p:nvSpPr>
        <p:spPr>
          <a:xfrm>
            <a:off x="401034" y="2280142"/>
            <a:ext cx="11539855" cy="5104130"/>
          </a:xfrm>
        </p:spPr>
        <p:txBody>
          <a:bodyPr>
            <a:normAutofit/>
          </a:bodyPr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Build a platform to connect healthcare professionals and organizations for seamless collaboration.</a:t>
            </a:r>
            <a:br>
              <a:rPr dirty="0" lang="en-US">
                <a:latin typeface="Times New Roman" pitchFamily="18" charset="0"/>
                <a:cs typeface="Times New Roman" pitchFamily="18" charset="0"/>
              </a:rPr>
            </a:br>
            <a:endParaRPr dirty="0" lang="en-US">
              <a:latin typeface="Times New Roman" pitchFamily="18" charset="0"/>
              <a:cs typeface="Times New Roman" pitchFamily="18" charset="0"/>
            </a:endParaRPr>
          </a:p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Facilitate the exchange of critical insights to improve decision-making in healthcare.</a:t>
            </a:r>
            <a:br>
              <a:rPr dirty="0" lang="en-US">
                <a:latin typeface="Times New Roman" pitchFamily="18" charset="0"/>
                <a:cs typeface="Times New Roman" pitchFamily="18" charset="0"/>
              </a:rPr>
            </a:br>
            <a:endParaRPr dirty="0" lang="en-US">
              <a:latin typeface="Times New Roman" pitchFamily="18" charset="0"/>
              <a:cs typeface="Times New Roman" pitchFamily="18" charset="0"/>
            </a:endParaRPr>
          </a:p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Promote innovation and better patient outcomes through effective networking and shared expertise.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>
          <a:xfrm>
            <a:off x="244311" y="0"/>
            <a:ext cx="10515600" cy="679450"/>
          </a:xfrm>
        </p:spPr>
        <p:txBody>
          <a:bodyPr>
            <a:noAutofit/>
          </a:bodyPr>
          <a:p>
            <a:r>
              <a:rPr b="1" dirty="0" lang="en-US" u="sng">
                <a:latin typeface="Times New Roman" pitchFamily="18" charset="0"/>
                <a:cs typeface="Times New Roman" pitchFamily="18" charset="0"/>
              </a:rPr>
              <a:t>LITERATURE </a:t>
            </a:r>
            <a:r>
              <a:rPr b="1" dirty="0" lang="en-US" u="sng">
                <a:latin typeface="Times New Roman" pitchFamily="18" charset="0"/>
                <a:cs typeface="Times New Roman" pitchFamily="18" charset="0"/>
                <a:sym typeface="+mn-ea"/>
              </a:rPr>
              <a:t>SURVEY</a:t>
            </a:r>
          </a:p>
        </p:txBody>
      </p:sp>
      <p:graphicFrame>
        <p:nvGraphicFramePr>
          <p:cNvPr id="4194305" name="Content Placeholder 3"/>
          <p:cNvGraphicFramePr>
            <a:graphicFrameLocks noGrp="1"/>
          </p:cNvGraphicFramePr>
          <p:nvPr>
            <p:ph idx="1"/>
          </p:nvPr>
        </p:nvGraphicFramePr>
        <p:xfrm>
          <a:off x="161827" y="707010"/>
          <a:ext cx="11868345" cy="6140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134"/>
                <a:gridCol w="1386074"/>
                <a:gridCol w="2377712"/>
                <a:gridCol w="2467683"/>
                <a:gridCol w="2678783"/>
                <a:gridCol w="2165959"/>
              </a:tblGrid>
              <a:tr h="689824"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2000" lang="en-US"/>
                        <a:t>  S.NO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2000" lang="en-US"/>
                        <a:t>       YEAR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2000" lang="en-US"/>
                        <a:t>                TITLE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2000" lang="en-US"/>
                        <a:t>              AUTHOR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2000" lang="en-US"/>
                        <a:t>           ADVANTAGE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2000" lang="en-US"/>
                        <a:t>           DRAWBACK</a:t>
                      </a:r>
                    </a:p>
                  </a:txBody>
                </a:tc>
              </a:tr>
              <a:tr h="2604785"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2000" lang="en-US">
                          <a:latin typeface="Times New Roman" pitchFamily="18" charset="0"/>
                          <a:cs typeface="Times New Roman" pitchFamily="18" charset="0"/>
                        </a:rPr>
                        <a:t>    1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2000" lang="en-US">
                          <a:latin typeface="Times New Roman" pitchFamily="18" charset="0"/>
                          <a:cs typeface="Times New Roman" pitchFamily="18" charset="0"/>
                        </a:rPr>
                        <a:t>     2022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Assured Data Communications as a Service for Internet of Medical Things</a:t>
                      </a:r>
                    </a:p>
                  </a:txBody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b="0" dirty="0" sz="1800" i="0" kern="1200" lang="en-IN" err="1" strike="noStrike" u="none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Ventsislav</a:t>
                      </a:r>
                      <a:r>
                        <a:rPr b="0" dirty="0" sz="1800" i="0" kern="1200" lang="en-IN" strike="noStrike" u="none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Trifonov</a:t>
                      </a:r>
                      <a:endParaRPr b="0" dirty="0" sz="2000" lang="en-US" u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</a:tc>
                <a:tc>
                  <a:txBody>
                    <a:bodyPr/>
                    <a:p>
                      <a:r>
                        <a:rPr dirty="0" sz="2000" lang="en-US"/>
                        <a:t>A reliable donation system during COVID-19 ensured accessibility, efficient distribution, and trust.</a:t>
                      </a:r>
                    </a:p>
                    <a:p>
                      <a:pPr algn="l">
                        <a:buNone/>
                      </a:pPr>
                      <a:endParaRPr b="0" dirty="0" sz="2000"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dirty="0" sz="2000" lang="en-US"/>
                        <a:t>Developing reliable donation systems during COVID-19 faced challenges like the digital divide</a:t>
                      </a:r>
                      <a:endParaRPr b="0" dirty="0" sz="2000"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</a:tc>
              </a:tr>
              <a:tr h="2789290">
                <a:tc>
                  <a:txBody>
                    <a:bodyPr/>
                    <a:p>
                      <a:pPr>
                        <a:buNone/>
                      </a:pPr>
                      <a:r>
                        <a:rPr sz="2000" lang="en-US">
                          <a:latin typeface="Times New Roman" pitchFamily="18" charset="0"/>
                          <a:cs typeface="Times New Roman" pitchFamily="18" charset="0"/>
                        </a:rPr>
                        <a:t>    2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2000" lang="en-US">
                          <a:latin typeface="Times New Roman" pitchFamily="18" charset="0"/>
                          <a:cs typeface="Times New Roman" pitchFamily="18" charset="0"/>
                        </a:rPr>
                        <a:t>     2021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sz="2000" lang="en-US"/>
                        <a:t>Optimal Deployment in Emergency Medicine with Genetic Algorithm Exemplified by Lifeguard Assignments</a:t>
                      </a:r>
                      <a:endParaRPr dirty="0" sz="2000" lang="en-IN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dirty="0" sz="2000" lang="en-IN"/>
                        <a:t>Jonas </a:t>
                      </a:r>
                      <a:r>
                        <a:rPr dirty="0" sz="2000" lang="en-IN" err="1"/>
                        <a:t>Chromik</a:t>
                      </a:r>
                      <a:r>
                        <a:rPr dirty="0" sz="2000" lang="en-IN"/>
                        <a:t> and Bert </a:t>
                      </a:r>
                      <a:r>
                        <a:rPr dirty="0" sz="2000" lang="en-IN" err="1"/>
                        <a:t>Arnrich</a:t>
                      </a:r>
                      <a:endParaRPr b="0" dirty="0" sz="2000"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</a:tc>
                <a:tc>
                  <a:txBody>
                    <a:bodyPr/>
                    <a:p>
                      <a:r>
                        <a:rPr dirty="0" sz="2000" lang="en-US"/>
                        <a:t>Genetic algorithms optimize lifeguard deployment, enhancing response speed, adaptability, and safety while reducing costs and errors.</a:t>
                      </a:r>
                    </a:p>
                    <a:p>
                      <a:pPr algn="l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dirty="0" sz="2000" lang="en-US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b="0" dirty="0" sz="2000" lang="en-US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l">
                        <a:buNone/>
                      </a:pPr>
                      <a:endParaRPr b="0" dirty="0" sz="2000"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dirty="0" sz="2000" lang="en-US"/>
                        <a:t>Genetic algorithms can be complex, resource-intensive, and may struggle with real-time</a:t>
                      </a:r>
                      <a:endParaRPr b="0" dirty="0" sz="2000"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>
          <a:xfrm>
            <a:off x="123284" y="-67310"/>
            <a:ext cx="11134725" cy="661670"/>
          </a:xfrm>
        </p:spPr>
        <p:txBody>
          <a:bodyPr>
            <a:normAutofit fontScale="90000"/>
          </a:bodyPr>
          <a:p>
            <a:r>
              <a:rPr b="1" dirty="0" sz="4890" lang="en-US" u="sng"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graphicFrame>
        <p:nvGraphicFramePr>
          <p:cNvPr id="4194306" name="Content Placeholder 4"/>
          <p:cNvGraphicFramePr>
            <a:graphicFrameLocks noGrp="1"/>
          </p:cNvGraphicFramePr>
          <p:nvPr>
            <p:ph idx="1"/>
          </p:nvPr>
        </p:nvGraphicFramePr>
        <p:xfrm>
          <a:off x="123284" y="669774"/>
          <a:ext cx="11945432" cy="60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298"/>
                <a:gridCol w="1185209"/>
                <a:gridCol w="2939134"/>
                <a:gridCol w="1947547"/>
                <a:gridCol w="2344947"/>
                <a:gridCol w="2455297"/>
              </a:tblGrid>
              <a:tr h="467375">
                <a:tc>
                  <a:txBody>
                    <a:bodyPr/>
                    <a:p>
                      <a:pPr>
                        <a:buNone/>
                      </a:pPr>
                      <a:r>
                        <a:rPr dirty="0" lang="en-US">
                          <a:latin typeface="Times New Roman" pitchFamily="18" charset="0"/>
                          <a:cs typeface="Times New Roman" pitchFamily="18" charset="0"/>
                        </a:rPr>
                        <a:t>  S.NO         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lang="en-US">
                          <a:latin typeface="Times New Roman" pitchFamily="18" charset="0"/>
                          <a:cs typeface="Times New Roman" pitchFamily="18" charset="0"/>
                        </a:rPr>
                        <a:t>     YEAR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lang="en-US">
                          <a:latin typeface="Times New Roman" pitchFamily="18" charset="0"/>
                          <a:cs typeface="Times New Roman" pitchFamily="18" charset="0"/>
                        </a:rPr>
                        <a:t>                  TITLE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          AUTHOR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       ADVANTAGE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     DRAWBACK</a:t>
                      </a:r>
                    </a:p>
                  </a:txBody>
                </a:tc>
              </a:tr>
              <a:tr h="2787890"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1800" lang="en-US">
                          <a:latin typeface="Times New Roman" pitchFamily="18" charset="0"/>
                          <a:cs typeface="Times New Roman" pitchFamily="18" charset="0"/>
                        </a:rPr>
                        <a:t>    3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1800" lang="en-US">
                          <a:latin typeface="Times New Roman" pitchFamily="18" charset="0"/>
                          <a:cs typeface="Times New Roman" pitchFamily="18" charset="0"/>
                        </a:rPr>
                        <a:t>     2022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Enabling Precision Medicine via Contemporary and Future Communication Technologies</a:t>
                      </a:r>
                    </a:p>
                  </a:txBody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dirty="0" sz="1800" lang="pl-PL"/>
                        <a:t>Barbara Kowal , Robert Ranosz , Michał Kłodawski</a:t>
                      </a:r>
                      <a:r>
                        <a:rPr dirty="0" sz="1800" lang="en-US"/>
                        <a:t>,</a:t>
                      </a:r>
                      <a:r>
                        <a:rPr dirty="0" sz="1800" lang="pl-PL"/>
                        <a:t> Roland Jachimowski , and Janusz Piechna</a:t>
                      </a:r>
                      <a:endParaRPr b="0" dirty="0" sz="1800"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</a:tc>
                <a:tc>
                  <a:txBody>
                    <a:bodyPr/>
                    <a:p>
                      <a:r>
                        <a:rPr dirty="0" sz="1800" lang="en-US"/>
                        <a:t>Hyperloop speeds up travel, cuts congestion, supports sustainability, drives economic growth, and enhances connectivity.</a:t>
                      </a:r>
                      <a:endParaRPr b="0" dirty="0" sz="1800"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dirty="0" sz="1800" lang="en-US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Relevant scientific articles, categorizes them, and provides an Overview of their development over time.</a:t>
                      </a:r>
                      <a:endParaRPr b="0" dirty="0" sz="1800"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</a:tc>
              </a:tr>
              <a:tr h="2758565">
                <a:tc>
                  <a:txBody>
                    <a:bodyPr/>
                    <a:p>
                      <a:pPr>
                        <a:buNone/>
                      </a:pPr>
                      <a:r>
                        <a:rPr sz="1800" lang="en-US">
                          <a:latin typeface="Times New Roman" pitchFamily="18" charset="0"/>
                          <a:cs typeface="Times New Roman" pitchFamily="18" charset="0"/>
                        </a:rPr>
                        <a:t>     4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1800" lang="en-US">
                          <a:latin typeface="Times New Roman" pitchFamily="18" charset="0"/>
                          <a:cs typeface="Times New Roman" pitchFamily="18" charset="0"/>
                        </a:rPr>
                        <a:t>     2022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sz="1800" lang="en-US"/>
                        <a:t>A Machine Learning Enabled Near Infrared Tracking Scheme for Localization of Gastrointestinal Smart </a:t>
                      </a:r>
                      <a:r>
                        <a:rPr dirty="0" sz="1800" lang="en-US" err="1"/>
                        <a:t>Capsul</a:t>
                      </a:r>
                      <a:endParaRPr dirty="0" sz="1800" lang="en-IN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1800" lang="en-IN"/>
                        <a:t>HONGJIE JIANG , JIANCONG YE, CHAOFAN LING, AND JUNPEI ZHONG</a:t>
                      </a:r>
                      <a:endParaRPr dirty="0" sz="1800"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</a:tc>
                <a:tc>
                  <a:txBody>
                    <a:bodyPr/>
                    <a:p>
                      <a:r>
                        <a:rPr dirty="0" sz="1800" lang="en-US"/>
                        <a:t>Machine learning enhances NIR tracking of gastrointestinal smart capsules by improving </a:t>
                      </a:r>
                      <a:r>
                        <a:rPr dirty="0" sz="1800" lang="en-US" err="1"/>
                        <a:t>accuracy,and</a:t>
                      </a:r>
                      <a:r>
                        <a:rPr dirty="0" sz="1800" lang="en-US"/>
                        <a:t> cost-effectiveness</a:t>
                      </a:r>
                    </a:p>
                    <a:p>
                      <a:pPr>
                        <a:buNone/>
                      </a:pPr>
                      <a:endParaRPr dirty="0" sz="1800"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1800"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Achieves "super-linear acceleration" compared to single-core fuzzing</a:t>
                      </a:r>
                      <a:r>
                        <a:rPr dirty="0" sz="1800" lang="en-IN">
                          <a:solidFill>
                            <a:schemeClr val="tx1"/>
                          </a:solidFill>
                          <a:latin typeface="Adobe Garamond Pro Bold" pitchFamily="18" charset="0"/>
                        </a:rPr>
                        <a:t>. </a:t>
                      </a:r>
                      <a:endParaRPr dirty="0" sz="1800"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>
          <a:xfrm>
            <a:off x="838200" y="207010"/>
            <a:ext cx="10515600" cy="777875"/>
          </a:xfrm>
        </p:spPr>
        <p:txBody>
          <a:bodyPr/>
          <a:p>
            <a:r>
              <a:rPr b="1" dirty="0" lang="en-US" u="sng"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graphicFrame>
        <p:nvGraphicFramePr>
          <p:cNvPr id="4194307" name="Content Placeholder 3"/>
          <p:cNvGraphicFramePr>
            <a:graphicFrameLocks noGrp="1"/>
          </p:cNvGraphicFramePr>
          <p:nvPr>
            <p:ph idx="1"/>
          </p:nvPr>
        </p:nvGraphicFramePr>
        <p:xfrm>
          <a:off x="433705" y="1160780"/>
          <a:ext cx="11411585" cy="3735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495"/>
                <a:gridCol w="1203325"/>
                <a:gridCol w="2701925"/>
                <a:gridCol w="2430145"/>
                <a:gridCol w="2197735"/>
                <a:gridCol w="1965960"/>
              </a:tblGrid>
              <a:tr h="717550">
                <a:tc>
                  <a:txBody>
                    <a:bodyPr/>
                    <a:p>
                      <a:pPr>
                        <a:buNone/>
                      </a:pPr>
                      <a:r>
                        <a:rPr dirty="0" lang="en-US"/>
                        <a:t>   S.NO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YEAR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            TITLE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     AUTHOR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ADVANTAGE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DRAWBACK  </a:t>
                      </a:r>
                    </a:p>
                  </a:txBody>
                </a:tc>
              </a:tr>
              <a:tr h="2255520"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2400" lang="en-US">
                          <a:latin typeface="Times New Roman" pitchFamily="18" charset="0"/>
                          <a:cs typeface="Times New Roman" pitchFamily="18" charset="0"/>
                        </a:rPr>
                        <a:t>    5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2400" lang="en-US">
                          <a:latin typeface="Times New Roman" pitchFamily="18" charset="0"/>
                          <a:cs typeface="Times New Roman" pitchFamily="18" charset="0"/>
                        </a:rPr>
                        <a:t>  2022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sz="2400" lang="en-IN"/>
                        <a:t>Towards Micropump- and Microneedle-based Drug Delivery using Micro Transdermal Interface Platforms (</a:t>
                      </a:r>
                      <a:r>
                        <a:rPr dirty="0" sz="2400" lang="en-IN" err="1"/>
                        <a:t>MicroTIPs</a:t>
                      </a:r>
                      <a:r>
                        <a:rPr dirty="0" sz="2400" lang="en-IN"/>
                        <a:t>) </a:t>
                      </a:r>
                      <a:endParaRPr dirty="0" sz="2400" lang="en-IN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2400" lang="en-IN" err="1"/>
                        <a:t>Fjodors</a:t>
                      </a:r>
                      <a:r>
                        <a:rPr dirty="0" sz="2400" lang="en-IN"/>
                        <a:t> </a:t>
                      </a:r>
                      <a:r>
                        <a:rPr dirty="0" sz="2400" lang="en-IN" err="1"/>
                        <a:t>Tjulkins</a:t>
                      </a:r>
                      <a:r>
                        <a:rPr dirty="0" sz="2400" lang="en-IN"/>
                        <a:t>, Ryan Sebastian, Theo </a:t>
                      </a:r>
                      <a:r>
                        <a:rPr dirty="0" sz="2400" lang="en-IN" err="1"/>
                        <a:t>Guillerm</a:t>
                      </a:r>
                      <a:r>
                        <a:rPr dirty="0" sz="2400" lang="en-IN"/>
                        <a:t>, A. James P. Clover, Yuan Hu, Alexander </a:t>
                      </a:r>
                      <a:r>
                        <a:rPr dirty="0" sz="2400" lang="en-IN" err="1"/>
                        <a:t>Lyness</a:t>
                      </a:r>
                      <a:r>
                        <a:rPr dirty="0" sz="2400" lang="en-IN"/>
                        <a:t> and Conor </a:t>
                      </a:r>
                      <a:r>
                        <a:rPr dirty="0" sz="2400" lang="en-IN" err="1"/>
                        <a:t>O’Mahony</a:t>
                      </a:r>
                      <a:r>
                        <a:rPr dirty="0" sz="2400" lang="en-IN"/>
                        <a:t>.</a:t>
                      </a:r>
                      <a:endParaRPr dirty="0" sz="2400"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</a:tc>
                <a:tc>
                  <a:txBody>
                    <a:bodyPr/>
                    <a:p>
                      <a:r>
                        <a:rPr dirty="0" sz="2400" lang="en-US" err="1"/>
                        <a:t>MicroTIPs</a:t>
                      </a:r>
                      <a:r>
                        <a:rPr dirty="0" sz="2400" lang="en-US"/>
                        <a:t> provide a minimally invasive, controlled, and efficient drug delivery method.</a:t>
                      </a:r>
                      <a:endParaRPr dirty="0" sz="2400"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2400" lang="en-US"/>
                        <a:t>Micropump- and microneedle-based systems can be complex and costly to manufacture.</a:t>
                      </a:r>
                      <a:endParaRPr dirty="0" sz="2400"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>
          <a:xfrm>
            <a:off x="536575" y="669433"/>
            <a:ext cx="10817225" cy="734060"/>
          </a:xfrm>
        </p:spPr>
        <p:txBody>
          <a:bodyPr>
            <a:normAutofit/>
          </a:bodyPr>
          <a:p>
            <a:r>
              <a:rPr b="1" dirty="0" lang="en-US" u="sng">
                <a:latin typeface="Times New Roman" pitchFamily="18" charset="0"/>
                <a:cs typeface="Times New Roman" pitchFamily="18" charset="0"/>
              </a:rPr>
              <a:t>EXISTING SYSTEM</a:t>
            </a:r>
          </a:p>
        </p:txBody>
      </p:sp>
      <p:sp>
        <p:nvSpPr>
          <p:cNvPr id="1048612" name="Rectangle 7"/>
          <p:cNvSpPr>
            <a:spLocks noChangeArrowheads="1"/>
          </p:cNvSpPr>
          <p:nvPr/>
        </p:nvSpPr>
        <p:spPr bwMode="auto">
          <a:xfrm>
            <a:off x="536575" y="1311817"/>
            <a:ext cx="11089368" cy="5120639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eaLnBrk="0" fontAlgn="base" hangingPunct="0" indent="-285750" latinLnBrk="0" lvl="0" marL="285750" marR="0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Existing networks often restrict the seamless exchange of patient data and insights due to interoperability issues and data privacy concerns.</a:t>
            </a:r>
          </a:p>
          <a:p>
            <a:pPr algn="l" defTabSz="914400" eaLnBrk="0" fontAlgn="base" hangingPunct="0" indent="-285750" latinLnBrk="0" lvl="0" marL="285750" marR="0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between institutions, professionals, and stakeholders is not centralized, leading to delays in critical insights and innovations.</a:t>
            </a:r>
            <a:endParaRPr altLang="en-US" baseline="0" b="0" cap="none" dirty="0" sz="2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eaLnBrk="0" fontAlgn="base" hangingPunct="0" indent="-285750" latinLnBrk="0" lvl="0" marL="285750" marR="0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Many processes, such as data aggregation and sharing, are still manual, leading to inefficiencies and a higher risk of errors.</a:t>
            </a:r>
            <a:endParaRPr altLang="en-US" baseline="0" b="0" cap="none" dirty="0" sz="2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830580" y="836606"/>
            <a:ext cx="10530840" cy="755650"/>
          </a:xfrm>
        </p:spPr>
        <p:txBody>
          <a:bodyPr>
            <a:normAutofit/>
          </a:bodyPr>
          <a:p>
            <a:r>
              <a:rPr b="1" dirty="0" lang="en-US" u="sng">
                <a:latin typeface="Times New Roman" pitchFamily="18" charset="0"/>
                <a:cs typeface="Times New Roman" pitchFamily="18" charset="0"/>
              </a:rPr>
              <a:t>DRAWBACKS FOR EXISTING SYSTEM</a:t>
            </a:r>
          </a:p>
        </p:txBody>
      </p:sp>
      <p:sp>
        <p:nvSpPr>
          <p:cNvPr id="1048614" name="TextBox 5"/>
          <p:cNvSpPr txBox="1"/>
          <p:nvPr/>
        </p:nvSpPr>
        <p:spPr>
          <a:xfrm>
            <a:off x="373224" y="2174033"/>
            <a:ext cx="11445552" cy="4358640"/>
          </a:xfrm>
          <a:prstGeom prst="rect"/>
          <a:noFill/>
        </p:spPr>
        <p:txBody>
          <a:bodyPr rtlCol="0" wrap="square">
            <a:spAutoFit/>
          </a:bodyPr>
          <a:p>
            <a:pPr indent="-342900" marL="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Incompatibility between platforms and inadequate security measures hinder seamless data exchange and pose risks to patient privacy.</a:t>
            </a:r>
          </a:p>
          <a:p>
            <a:pPr indent="-342900" marL="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processes and limited real-time insights result in slower decision-making, adversely affecting patient outcomes and healthcare efficiency.</a:t>
            </a:r>
          </a:p>
          <a:p>
            <a:pPr indent="-342900" marL="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integration, making it difficult for healthcare professionals to access and share information efficiently in real time.</a:t>
            </a:r>
          </a:p>
          <a:p>
            <a:pPr indent="-342900" marL="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dirty="0" sz="2400" lang="en-US">
              <a:latin typeface="Times New Roman" pitchFamily="18" charset="0"/>
              <a:cs typeface="Times New Roman" pitchFamily="18" charset="0"/>
            </a:endParaRPr>
          </a:p>
          <a:p>
            <a:pPr indent="-342900" marL="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dirty="0" sz="2400" 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>
          <a:xfrm>
            <a:off x="838200" y="803800"/>
            <a:ext cx="10515600" cy="777240"/>
          </a:xfrm>
        </p:spPr>
        <p:txBody>
          <a:bodyPr/>
          <a:p>
            <a:r>
              <a:rPr b="1" dirty="0" lang="en-US" u="sng">
                <a:latin typeface="Times New Roman" pitchFamily="18" charset="0"/>
                <a:cs typeface="Times New Roman" pitchFamily="18" charset="0"/>
              </a:rPr>
              <a:t>PROPOSED SYSTEM</a:t>
            </a:r>
          </a:p>
        </p:txBody>
      </p:sp>
      <p:sp>
        <p:nvSpPr>
          <p:cNvPr id="1048616" name="Rectangle 1"/>
          <p:cNvSpPr>
            <a:spLocks noChangeArrowheads="1"/>
          </p:cNvSpPr>
          <p:nvPr/>
        </p:nvSpPr>
        <p:spPr bwMode="auto">
          <a:xfrm>
            <a:off x="942391" y="2041016"/>
            <a:ext cx="10515600" cy="38633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eaLnBrk="0" fontAlgn="base" hangingPunct="0" indent="-457200" latinLnBrk="0" lvl="0" marL="4572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system that enables interoperability between various healthcare platforms, ensuring secure and efficient sharing of patient data and insights.</a:t>
            </a:r>
          </a:p>
          <a:p>
            <a:pPr algn="l" defTabSz="914400" eaLnBrk="0" fontAlgn="base" hangingPunct="0" indent="-457200" latinLnBrk="0" lvl="0" marL="4572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Establish a unified platform for institutions, professionals, and stakeholders to collaborate on research, case studies, and innovative healthcare solutions.</a:t>
            </a:r>
          </a:p>
          <a:p>
            <a:pPr algn="l" defTabSz="914400" eaLnBrk="0" fontAlgn="base" hangingPunct="0" indent="-457200" latinLnBrk="0" lvl="0" marL="4572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Automate data aggregation and sharing processes to reduce manual effort, minimize errors, and improve overall efficiency in healthcare operations.</a:t>
            </a:r>
            <a:endParaRPr altLang="en-US" baseline="0" b="0" cap="none" dirty="0" sz="26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>
          <a:xfrm>
            <a:off x="838200" y="229235"/>
            <a:ext cx="10515600" cy="949325"/>
          </a:xfrm>
        </p:spPr>
        <p:txBody>
          <a:bodyPr/>
          <a:p>
            <a:r>
              <a:rPr b="1" dirty="0" lang="en-US" u="sng">
                <a:latin typeface="Times New Roman" pitchFamily="18" charset="0"/>
                <a:cs typeface="Times New Roman" pitchFamily="18" charset="0"/>
              </a:rPr>
              <a:t>ADVANTAGES FOR PROPOSED WORK</a:t>
            </a:r>
          </a:p>
        </p:txBody>
      </p:sp>
      <p:sp>
        <p:nvSpPr>
          <p:cNvPr id="1048618" name="Content Placeholder 2"/>
          <p:cNvSpPr>
            <a:spLocks noGrp="1"/>
          </p:cNvSpPr>
          <p:nvPr>
            <p:ph idx="1"/>
          </p:nvPr>
        </p:nvSpPr>
        <p:spPr>
          <a:xfrm>
            <a:off x="461645" y="1509395"/>
            <a:ext cx="11269345" cy="4742815"/>
          </a:xfrm>
        </p:spPr>
        <p:txBody>
          <a:bodyPr>
            <a:noAutofit/>
          </a:bodyPr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b="1" dirty="0" sz="22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Collaboration : </a:t>
            </a:r>
            <a:r>
              <a:rPr dirty="0" sz="2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Enables healthcare professionals to communicate and share insights instantly, improving coordination and reducing response times.</a:t>
            </a:r>
            <a:br>
              <a:rPr altLang="en-US" baseline="0" b="0" cap="none" dirty="0" sz="22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 sz="2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b="1" dirty="0" sz="22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Seamless Data Interoperability : </a:t>
            </a:r>
            <a:r>
              <a:rPr dirty="0" sz="2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altLang="en-US" baseline="0" b="0" cap="none" dirty="0" sz="22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educing the wastage of valuable medications by facilitating the donation of unused medicines.</a:t>
            </a:r>
            <a:br>
              <a:rPr altLang="en-US" baseline="0" b="0" cap="none" dirty="0" sz="22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b="1" dirty="0" sz="2200" i="0" lang="en-US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b="1" dirty="0" sz="22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Improved Efficiency and Automation : </a:t>
            </a:r>
            <a:r>
              <a:rPr altLang="en-US" baseline="0" b="0" cap="none" dirty="0" sz="22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enhances healthcare access for low-income individuals by providing access to essential medicines that are not affordable.</a:t>
            </a:r>
            <a:br>
              <a:rPr altLang="en-US" baseline="0" b="0" cap="none" dirty="0" sz="22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 sz="2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b="1" dirty="0" sz="22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Better Patient Outcomes : </a:t>
            </a:r>
            <a:r>
              <a:rPr altLang="en-US" baseline="0" b="0" cap="none" dirty="0" sz="22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redistribution of unused medicines benefits both donors and recipients by reducing healthcare costs.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dirty="0" sz="2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 indent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baseline="0" b="0" cap="none" dirty="0" sz="22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significantly enhance public health and environmental conservation by effectively utilizing surplus medications.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dirty="0" sz="2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dirty="0" sz="22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>
          <a:xfrm>
            <a:off x="486229" y="532804"/>
            <a:ext cx="11219542" cy="902970"/>
          </a:xfrm>
        </p:spPr>
        <p:txBody>
          <a:bodyPr>
            <a:normAutofit/>
          </a:bodyPr>
          <a:p>
            <a:r>
              <a:rPr b="1" dirty="0" lang="en-US" u="sng">
                <a:latin typeface="Times New Roman" pitchFamily="18" charset="0"/>
                <a:cs typeface="Times New Roman" pitchFamily="18" charset="0"/>
              </a:rPr>
              <a:t>PROPOSED WORK-FLOW BLOCK DIAGRAM</a:t>
            </a:r>
          </a:p>
        </p:txBody>
      </p:sp>
      <p:pic>
        <p:nvPicPr>
          <p:cNvPr id="2097153" name="Picture 2097154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193075" y="1435774"/>
            <a:ext cx="5805850" cy="4808794"/>
          </a:xfrm>
          <a:prstGeom prst="rect"/>
        </p:spPr>
      </p:pic>
      <p:sp>
        <p:nvSpPr>
          <p:cNvPr id="1048620" name="Rectangle 1"/>
          <p:cNvSpPr/>
          <p:nvPr/>
        </p:nvSpPr>
        <p:spPr>
          <a:xfrm>
            <a:off x="4301412" y="1856792"/>
            <a:ext cx="1306286" cy="485192"/>
          </a:xfrm>
          <a:prstGeom prst="rect"/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621" name="TextBox 2"/>
          <p:cNvSpPr txBox="1"/>
          <p:nvPr/>
        </p:nvSpPr>
        <p:spPr>
          <a:xfrm>
            <a:off x="4301412" y="1940767"/>
            <a:ext cx="1371600" cy="62484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/>
              <a:t> HOSPITAL </a:t>
            </a:r>
            <a:r>
              <a:rPr dirty="0" lang="en-US">
                <a:solidFill>
                  <a:schemeClr val="accent6">
                    <a:lumMod val="75000"/>
                  </a:schemeClr>
                </a:solidFill>
              </a:rPr>
              <a:t>A</a:t>
            </a:r>
            <a:endParaRPr dirty="0" lang="en-IN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48622" name="Rectangle 3"/>
          <p:cNvSpPr/>
          <p:nvPr/>
        </p:nvSpPr>
        <p:spPr>
          <a:xfrm>
            <a:off x="6638544" y="3230880"/>
            <a:ext cx="627888" cy="198120"/>
          </a:xfrm>
          <a:prstGeom prst="rect"/>
          <a:solidFill>
            <a:srgbClr val="C18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sz="800" lang="en-IN"/>
          </a:p>
        </p:txBody>
      </p:sp>
      <p:sp>
        <p:nvSpPr>
          <p:cNvPr id="1048623" name="Rectangle 5"/>
          <p:cNvSpPr/>
          <p:nvPr/>
        </p:nvSpPr>
        <p:spPr>
          <a:xfrm>
            <a:off x="7266432" y="1645920"/>
            <a:ext cx="1700784" cy="3779520"/>
          </a:xfrm>
          <a:prstGeom prst="rect"/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624" name="Rectangle 6"/>
          <p:cNvSpPr/>
          <p:nvPr/>
        </p:nvSpPr>
        <p:spPr>
          <a:xfrm>
            <a:off x="7187184" y="4392169"/>
            <a:ext cx="45719" cy="45719"/>
          </a:xfrm>
          <a:prstGeom prst="rect"/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625" name="Rectangle 7"/>
          <p:cNvSpPr/>
          <p:nvPr/>
        </p:nvSpPr>
        <p:spPr>
          <a:xfrm>
            <a:off x="4675632" y="4681728"/>
            <a:ext cx="2590800" cy="798576"/>
          </a:xfrm>
          <a:prstGeom prst="rect"/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626" name="Rectangle 8"/>
          <p:cNvSpPr/>
          <p:nvPr/>
        </p:nvSpPr>
        <p:spPr>
          <a:xfrm>
            <a:off x="4462272" y="4815840"/>
            <a:ext cx="1786128" cy="485192"/>
          </a:xfrm>
          <a:prstGeom prst="rect"/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627" name="TextBox 9"/>
          <p:cNvSpPr txBox="1"/>
          <p:nvPr/>
        </p:nvSpPr>
        <p:spPr>
          <a:xfrm>
            <a:off x="4682413" y="4873770"/>
            <a:ext cx="1371600" cy="624839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/>
              <a:t>  HOSPITAL </a:t>
            </a:r>
            <a:r>
              <a:rPr dirty="0" lang="en-US">
                <a:solidFill>
                  <a:schemeClr val="accent1">
                    <a:lumMod val="75000"/>
                  </a:schemeClr>
                </a:solidFill>
              </a:rPr>
              <a:t>B</a:t>
            </a:r>
            <a:endParaRPr dirty="0" lang="en-IN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3"/>
          <p:cNvSpPr>
            <a:spLocks noGrp="1"/>
          </p:cNvSpPr>
          <p:nvPr>
            <p:ph type="title"/>
          </p:nvPr>
        </p:nvSpPr>
        <p:spPr>
          <a:xfrm>
            <a:off x="838200" y="216693"/>
            <a:ext cx="10515600" cy="1325563"/>
          </a:xfrm>
        </p:spPr>
        <p:txBody>
          <a:bodyPr>
            <a:normAutofit/>
          </a:bodyPr>
          <a:p>
            <a:r>
              <a:rPr b="1" dirty="0" lang="en-US" u="sng">
                <a:latin typeface="Times New Roman" pitchFamily="18" charset="0"/>
                <a:cs typeface="Times New Roman" pitchFamily="18" charset="0"/>
              </a:rPr>
              <a:t>SOFTWARE TOOL REQUIREMENTS</a:t>
            </a:r>
          </a:p>
        </p:txBody>
      </p:sp>
      <p:sp>
        <p:nvSpPr>
          <p:cNvPr id="104863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p>
            <a:r>
              <a:rPr dirty="0" lang="en-US">
                <a:latin typeface="Times New Roman" pitchFamily="18" charset="0"/>
                <a:cs typeface="Times New Roman" pitchFamily="18" charset="0"/>
              </a:rPr>
              <a:t>WINDOWS / LINUX</a:t>
            </a:r>
          </a:p>
        </p:txBody>
      </p:sp>
      <p:sp>
        <p:nvSpPr>
          <p:cNvPr id="1048636" name="Content Placeholder 6"/>
          <p:cNvSpPr>
            <a:spLocks noGrp="1"/>
          </p:cNvSpPr>
          <p:nvPr>
            <p:ph sz="half" idx="2"/>
          </p:nvPr>
        </p:nvSpPr>
        <p:spPr>
          <a:xfrm>
            <a:off x="6794466" y="1501933"/>
            <a:ext cx="5181600" cy="4351338"/>
          </a:xfrm>
        </p:spPr>
        <p:txBody>
          <a:bodyPr>
            <a:normAutofit/>
          </a:bodyPr>
          <a:p>
            <a:pPr indent="0" marL="0">
              <a:buNone/>
            </a:pPr>
            <a:endParaRPr dirty="0" lang="en-US">
              <a:latin typeface="Times New Roman" pitchFamily="18" charset="0"/>
              <a:cs typeface="Times New Roman" pitchFamily="18" charset="0"/>
            </a:endParaRPr>
          </a:p>
          <a:p>
            <a:endParaRPr dirty="0" lang="en-US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r>
              <a:rPr b="1" dirty="0" lang="en-US">
                <a:latin typeface="Times New Roman" pitchFamily="18" charset="0"/>
                <a:cs typeface="Times New Roman" pitchFamily="18" charset="0"/>
              </a:rPr>
              <a:t>WEB BROWSER :</a:t>
            </a:r>
          </a:p>
          <a:p>
            <a:r>
              <a:rPr dirty="0" lang="en-US">
                <a:latin typeface="Times New Roman" pitchFamily="18" charset="0"/>
                <a:cs typeface="Times New Roman" pitchFamily="18" charset="0"/>
              </a:rPr>
              <a:t>Chrome</a:t>
            </a:r>
          </a:p>
          <a:p>
            <a:r>
              <a:rPr dirty="0" lang="en-US">
                <a:latin typeface="Times New Roman" pitchFamily="18" charset="0"/>
                <a:cs typeface="Times New Roman" pitchFamily="18" charset="0"/>
              </a:rPr>
              <a:t>Microsoft Edge</a:t>
            </a:r>
          </a:p>
          <a:p>
            <a:r>
              <a:rPr dirty="0" lang="en-US">
                <a:latin typeface="Times New Roman" pitchFamily="18" charset="0"/>
                <a:cs typeface="Times New Roman" pitchFamily="18" charset="0"/>
              </a:rPr>
              <a:t>Firefox</a:t>
            </a:r>
          </a:p>
        </p:txBody>
      </p:sp>
      <p:pic>
        <p:nvPicPr>
          <p:cNvPr id="2097154" name="Picture 11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94970" y="2431415"/>
            <a:ext cx="2548255" cy="2492375"/>
          </a:xfrm>
          <a:prstGeom prst="rect"/>
        </p:spPr>
      </p:pic>
      <p:pic>
        <p:nvPicPr>
          <p:cNvPr id="2097155" name="Picture 12"/>
          <p:cNvPicPr>
            <a:picLocks noChangeAspect="1"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3437255" y="2584450"/>
            <a:ext cx="2481580" cy="2186305"/>
          </a:xfrm>
          <a:prstGeom prst="rect"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dirty="0" lang="en-US" u="sng">
                <a:latin typeface="Times New Roman" pitchFamily="18" charset="0"/>
                <a:cs typeface="Times New Roman" pitchFamily="18" charset="0"/>
              </a:rPr>
              <a:t>ALGORITHM </a:t>
            </a:r>
            <a:endParaRPr dirty="0" lang="en-IN"/>
          </a:p>
        </p:txBody>
      </p:sp>
      <p:sp>
        <p:nvSpPr>
          <p:cNvPr id="1048638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p>
            <a:r>
              <a:rPr b="1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and Computing Services : </a:t>
            </a:r>
          </a:p>
          <a:p>
            <a:pPr indent="0" marL="0">
              <a:buNone/>
            </a:pPr>
            <a:r>
              <a:rPr b="1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Enables scalable and secure storage for large volumes of healthcare data.</a:t>
            </a:r>
          </a:p>
          <a:p>
            <a:r>
              <a:rPr b="1"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 : </a:t>
            </a:r>
          </a:p>
          <a:p>
            <a:pPr indent="0" marL="0">
              <a:buNone/>
            </a:pPr>
            <a:r>
              <a:rPr b="1"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dirty="0" sz="2000" lang="en-US">
                <a:latin typeface="Times New Roman" panose="02020603050405020304" pitchFamily="18" charset="0"/>
                <a:cs typeface="Times New Roman" pitchFamily="18" charset="0"/>
              </a:rPr>
              <a:t>Combines data from multiple sources to generate actionable insights.</a:t>
            </a:r>
          </a:p>
          <a:p>
            <a:r>
              <a:rPr b="1"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Validity and Verification :</a:t>
            </a:r>
          </a:p>
          <a:p>
            <a:pPr indent="0" marL="0">
              <a:buNone/>
            </a:pP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Used to check the given data is valid and also verify its </a:t>
            </a:r>
            <a:r>
              <a:rPr dirty="0" sz="20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truthness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b="1" dirty="0" sz="2000" lang="en-US">
              <a:latin typeface="Times New Roman" panose="02020603050405020304" pitchFamily="18" charset="0"/>
              <a:cs typeface="Times New Roman" pitchFamily="18" charset="0"/>
            </a:endParaRPr>
          </a:p>
          <a:p>
            <a:r>
              <a:rPr b="1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Security Enhancement :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0" marL="0">
              <a:buNone/>
            </a:pP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It have allow the administrative login for security purpose and secure environment. </a:t>
            </a:r>
            <a:endParaRPr dirty="0" sz="2000" lang="en-IN"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extBox 6"/>
          <p:cNvSpPr txBox="1"/>
          <p:nvPr/>
        </p:nvSpPr>
        <p:spPr>
          <a:xfrm>
            <a:off x="625151" y="298580"/>
            <a:ext cx="2388637" cy="40011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  <a:endParaRPr dirty="0" sz="20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95" name=""/>
          <p:cNvSpPr txBox="1"/>
          <p:nvPr/>
        </p:nvSpPr>
        <p:spPr>
          <a:xfrm>
            <a:off x="4096000" y="321945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IN">
                <a:solidFill>
                  <a:srgbClr val="000000"/>
                </a:solidFill>
              </a:rPr>
              <a:t/>
            </a:r>
            <a:endParaRPr sz="2800" lang="en-IN">
              <a:solidFill>
                <a:srgbClr val="000000"/>
              </a:solidFill>
            </a:endParaRPr>
          </a:p>
        </p:txBody>
      </p:sp>
      <p:pic>
        <p:nvPicPr>
          <p:cNvPr id="2097156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612507" y="1129662"/>
            <a:ext cx="11286734" cy="5344016"/>
          </a:xfrm>
          <a:prstGeom prst="rect"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>
          <a:xfrm>
            <a:off x="726803" y="302623"/>
            <a:ext cx="10515600" cy="827405"/>
          </a:xfrm>
        </p:spPr>
        <p:txBody>
          <a:bodyPr/>
          <a:p>
            <a:pPr algn="ctr"/>
            <a:r>
              <a:rPr b="1" dirty="0" lang="en-US" u="sng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1048641" name="Content Placeholder 2"/>
          <p:cNvSpPr>
            <a:spLocks noGrp="1"/>
          </p:cNvSpPr>
          <p:nvPr>
            <p:ph idx="1"/>
          </p:nvPr>
        </p:nvSpPr>
        <p:spPr>
          <a:xfrm>
            <a:off x="387395" y="1334951"/>
            <a:ext cx="11194415" cy="4982664"/>
          </a:xfrm>
        </p:spPr>
        <p:txBody>
          <a:bodyPr>
            <a:noAutofit/>
          </a:bodyPr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dirty="0" lang="en-US"/>
              <a:t>The system provides a unified platform for seamless communication and data sharing, ensuring security and efficiency.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dirty="0" lang="en-US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dirty="0" lang="en-US" err="1"/>
              <a:t>MedBridge</a:t>
            </a:r>
            <a:r>
              <a:rPr dirty="0" lang="en-US"/>
              <a:t> stands as a transformative solution, bridging gaps and empowering the healthcare ecosystem to deliver better care with precision and speed.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altLang="en-US"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also Enhance the safety and provide the user friendly environment.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>
          <a:xfrm>
            <a:off x="838200" y="199390"/>
            <a:ext cx="10515600" cy="949325"/>
          </a:xfrm>
        </p:spPr>
        <p:txBody>
          <a:bodyPr/>
          <a:p>
            <a:pPr algn="ctr"/>
            <a:r>
              <a:rPr b="1" dirty="0" lang="en-US" u="sng">
                <a:latin typeface="Times New Roman" pitchFamily="18" charset="0"/>
                <a:cs typeface="Times New Roman" pitchFamily="18" charset="0"/>
              </a:rPr>
              <a:t>FUTURE WORK</a:t>
            </a:r>
          </a:p>
        </p:txBody>
      </p:sp>
      <p:sp>
        <p:nvSpPr>
          <p:cNvPr id="1048643" name="Content Placeholder 2"/>
          <p:cNvSpPr>
            <a:spLocks noGrp="1"/>
          </p:cNvSpPr>
          <p:nvPr>
            <p:ph idx="1"/>
          </p:nvPr>
        </p:nvSpPr>
        <p:spPr>
          <a:xfrm>
            <a:off x="909732" y="1492885"/>
            <a:ext cx="11359515" cy="5165725"/>
          </a:xfrm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dirty="0" i="0" lang="en-IN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Progressive Web Apps (PWAs)</a:t>
            </a:r>
          </a:p>
          <a:p>
            <a:pPr>
              <a:lnSpc>
                <a:spcPct val="150000"/>
              </a:lnSpc>
            </a:pPr>
            <a:r>
              <a:rPr dirty="0" i="0" lang="en-IN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User Interfaces (VUIs)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dirty="0" i="0" lang="en-IN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and Inclusive Design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dirty="0" i="0" lang="en-IN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Blockchain and Web3 Development</a:t>
            </a:r>
          </a:p>
          <a:p>
            <a:pPr>
              <a:lnSpc>
                <a:spcPct val="150000"/>
              </a:lnSpc>
            </a:pPr>
            <a:r>
              <a:rPr dirty="0" i="0" lang="en-IN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and Infographics</a:t>
            </a:r>
            <a:endParaRPr dirty="0" lang="en-US"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>
          <a:xfrm>
            <a:off x="838200" y="168910"/>
            <a:ext cx="10515600" cy="889000"/>
          </a:xfrm>
        </p:spPr>
        <p:txBody>
          <a:bodyPr/>
          <a:p>
            <a:r>
              <a:rPr b="1" dirty="0" lang="en-US" u="sng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1048645" name="Content Placeholder 2"/>
          <p:cNvSpPr>
            <a:spLocks noGrp="1"/>
          </p:cNvSpPr>
          <p:nvPr>
            <p:ph idx="1"/>
          </p:nvPr>
        </p:nvSpPr>
        <p:spPr>
          <a:xfrm>
            <a:off x="423545" y="1232626"/>
            <a:ext cx="11344910" cy="5195570"/>
          </a:xfrm>
        </p:spPr>
        <p:txBody>
          <a:bodyPr>
            <a:normAutofit fontScale="96000"/>
          </a:bodyPr>
          <a:p>
            <a:pPr algn="just" eaLnBrk="1" hangingPunct="1" indent="-514350" marL="514350">
              <a:spcBef>
                <a:spcPct val="0"/>
              </a:spcBef>
              <a:buFontTx/>
              <a:buAutoNum type="arabicPeriod"/>
            </a:pPr>
            <a:r>
              <a:rPr altLang="en-US" dirty="0" sz="25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McGregor, M. (2019). Impact of Medicine Redistribution Programs on Public Health. Journal of Pharmaceutical Health Services Research, 10(2), 123-130.</a:t>
            </a:r>
          </a:p>
          <a:p>
            <a:pPr algn="just" eaLnBrk="1" hangingPunct="1" indent="-514350" marL="514350">
              <a:spcBef>
                <a:spcPct val="0"/>
              </a:spcBef>
              <a:buFontTx/>
              <a:buAutoNum type="arabicPeriod"/>
            </a:pPr>
            <a:endParaRPr altLang="en-US" dirty="0" sz="25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 indent="-514350" marL="514350">
              <a:spcBef>
                <a:spcPct val="0"/>
              </a:spcBef>
              <a:buFontTx/>
              <a:buAutoNum type="arabicPeriod"/>
            </a:pPr>
            <a:r>
              <a:rPr altLang="en-US" dirty="0" sz="25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Smith, R., &amp; Jones, L. (2021). Reducing Pharmaceutical Waste Through Donation Programs: A Review. International Journal of Environmental Research and Public Health, 18(4), 567-576.</a:t>
            </a:r>
          </a:p>
          <a:p>
            <a:pPr algn="just" eaLnBrk="1" hangingPunct="1" indent="-514350" marL="514350">
              <a:spcBef>
                <a:spcPct val="0"/>
              </a:spcBef>
              <a:buFontTx/>
              <a:buAutoNum type="arabicPeriod"/>
            </a:pPr>
            <a:endParaRPr altLang="en-US" dirty="0" sz="25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 indent="-514350" marL="514350">
              <a:spcBef>
                <a:spcPct val="0"/>
              </a:spcBef>
              <a:buFontTx/>
              <a:buAutoNum type="arabicPeriod"/>
            </a:pPr>
            <a:r>
              <a:rPr altLang="en-US" dirty="0" sz="25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Williams, T., &amp; Brown, K. (2020). Evaluating the Effectiveness of Medicine Donation Programs. Journal of Medical Economics, 23(1), 45-55.</a:t>
            </a:r>
          </a:p>
          <a:p>
            <a:pPr algn="just" eaLnBrk="1" hangingPunct="1" indent="-514350" marL="514350">
              <a:spcBef>
                <a:spcPct val="0"/>
              </a:spcBef>
              <a:buFontTx/>
              <a:buAutoNum type="arabicPeriod"/>
            </a:pPr>
            <a:endParaRPr altLang="en-US" dirty="0" sz="25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 indent="-514350" marL="514350">
              <a:spcBef>
                <a:spcPct val="0"/>
              </a:spcBef>
              <a:buFontTx/>
              <a:buAutoNum type="arabicPeriod"/>
            </a:pPr>
            <a:r>
              <a:rPr altLang="en-US" dirty="0" sz="25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Lee, C. (2018). The Role of Technology in Medicine Donation and Redistribution. Health Information Science and Systems, 6(1), 29-38.</a:t>
            </a:r>
          </a:p>
          <a:p>
            <a:pPr algn="just" eaLnBrk="1" hangingPunct="1" indent="-514350" marL="514350">
              <a:spcBef>
                <a:spcPct val="0"/>
              </a:spcBef>
              <a:buFontTx/>
              <a:buAutoNum type="arabicPeriod"/>
            </a:pPr>
            <a:endParaRPr altLang="en-US" dirty="0" sz="25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 indent="-514350" marL="514350">
              <a:spcBef>
                <a:spcPct val="0"/>
              </a:spcBef>
              <a:buFontTx/>
              <a:buAutoNum type="arabicPeriod"/>
            </a:pPr>
            <a:r>
              <a:rPr altLang="en-US" dirty="0" sz="25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Thompson, P., &amp; Patel, S. (2019). Pharmaceutical Waste Management: Case Studies and Solutions. Waste Management &amp; Research, 37(5), 487-494.</a:t>
            </a:r>
            <a:endParaRPr altLang="en-US" dirty="0" sz="25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r>
              <a:rPr lang="en-US"/>
              <a:t>                      </a:t>
            </a:r>
            <a:r>
              <a:rPr b="1" sz="9600" lang="en-US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SRI LAKSHMI AMMAL ENGINEERING COLLEGE , CHENNAI-126  DEPARTMENT OF COMPUTER SCIENCE AND ENGINEERING</dc:title>
  <dc:creator>Redmi 7</dc:creator>
  <cp:lastModifiedBy>Santhosh T</cp:lastModifiedBy>
  <dcterms:created xsi:type="dcterms:W3CDTF">2021-08-02T10:15:00Z</dcterms:created>
  <dcterms:modified xsi:type="dcterms:W3CDTF">2024-12-28T03:27:22Z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1033-11.2.0.10223</vt:lpwstr>
  </property>
  <property fmtid="{D5CDD505-2E9C-101B-9397-08002B2CF9AE}" pid="3" name="ICV">
    <vt:lpwstr>0647febe275d4670b343a9765d09afed</vt:lpwstr>
  </property>
</Properties>
</file>